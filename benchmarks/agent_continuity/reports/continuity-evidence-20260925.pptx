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e8780d7a1341dd" /><Relationship Type="http://schemas.openxmlformats.org/officeDocument/2006/relationships/extended-properties" Target="/docProps/app.xml" Id="R709fe25b02e9434d" /><Relationship Type="http://schemas.openxmlformats.org/officeDocument/2006/relationships/officeDocument" Target="/ppt/presentation.xml" Id="Rc309e8fc3e0140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78d9927beb4684"/>
  </p:sldMasterIdLst>
  <p:notesMasterIdLst>
    <p:notesMasterId xmlns:r="http://schemas.openxmlformats.org/officeDocument/2006/relationships" r:id="R0302aaa0367845ca"/>
  </p:notesMasterIdLst>
  <p:sldIdLst>
    <p:sldId xmlns:r="http://schemas.openxmlformats.org/officeDocument/2006/relationships" id="256" r:id="Rac0f3c61428b43ed"/>
    <p:sldId xmlns:r="http://schemas.openxmlformats.org/officeDocument/2006/relationships" id="257" r:id="R0860bf3571ae4294"/>
    <p:sldId xmlns:r="http://schemas.openxmlformats.org/officeDocument/2006/relationships" id="258" r:id="Rd6d575575c1041e4"/>
    <p:sldId xmlns:r="http://schemas.openxmlformats.org/officeDocument/2006/relationships" id="259" r:id="R86fe095ef01949f7"/>
    <p:sldId xmlns:r="http://schemas.openxmlformats.org/officeDocument/2006/relationships" id="260" r:id="R08f9b4e3af3d430d"/>
    <p:sldId xmlns:r="http://schemas.openxmlformats.org/officeDocument/2006/relationships" id="261" r:id="R5620280165444374"/>
    <p:sldId xmlns:r="http://schemas.openxmlformats.org/officeDocument/2006/relationships" id="262" r:id="R39315d016c0240b0"/>
    <p:sldId xmlns:r="http://schemas.openxmlformats.org/officeDocument/2006/relationships" id="263" r:id="R82f65d065f8b495a"/>
    <p:sldId xmlns:r="http://schemas.openxmlformats.org/officeDocument/2006/relationships" id="264" r:id="R0e296a57639f443b"/>
    <p:sldId xmlns:r="http://schemas.openxmlformats.org/officeDocument/2006/relationships" id="265" r:id="R6555df51c8bb423c"/>
    <p:sldId xmlns:r="http://schemas.openxmlformats.org/officeDocument/2006/relationships" id="266" r:id="R2828ca896abf4dd3"/>
    <p:sldId xmlns:r="http://schemas.openxmlformats.org/officeDocument/2006/relationships" id="267" r:id="R74ab991ab39149e2"/>
    <p:sldId xmlns:r="http://schemas.openxmlformats.org/officeDocument/2006/relationships" id="268" r:id="R106d8b10a0b745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d56555dceb4f62" /><Relationship Type="http://schemas.openxmlformats.org/officeDocument/2006/relationships/slideMaster" Target="/ppt/slideMasters/slideMaster1.xml" Id="R5c78d9927beb4684" /><Relationship Type="http://schemas.openxmlformats.org/officeDocument/2006/relationships/notesMaster" Target="/ppt/notesMasters/notesMaster1.xml" Id="R0302aaa0367845ca" /><Relationship Type="http://schemas.openxmlformats.org/officeDocument/2006/relationships/presProps" Target="/ppt/presProps.xml" Id="R6e42545483794303" /><Relationship Type="http://schemas.openxmlformats.org/officeDocument/2006/relationships/tableStyles" Target="/ppt/tableStyles.xml" Id="R45ed13d831544849" /><Relationship Type="http://schemas.openxmlformats.org/officeDocument/2006/relationships/slide" Target="/ppt/slides/slide1.xml" Id="Rac0f3c61428b43ed" /><Relationship Type="http://schemas.openxmlformats.org/officeDocument/2006/relationships/slide" Target="/ppt/slides/slide2.xml" Id="R0860bf3571ae4294" /><Relationship Type="http://schemas.openxmlformats.org/officeDocument/2006/relationships/slide" Target="/ppt/slides/slide3.xml" Id="Rd6d575575c1041e4" /><Relationship Type="http://schemas.openxmlformats.org/officeDocument/2006/relationships/slide" Target="/ppt/slides/slide4.xml" Id="R86fe095ef01949f7" /><Relationship Type="http://schemas.openxmlformats.org/officeDocument/2006/relationships/slide" Target="/ppt/slides/slide5.xml" Id="R08f9b4e3af3d430d" /><Relationship Type="http://schemas.openxmlformats.org/officeDocument/2006/relationships/slide" Target="/ppt/slides/slide6.xml" Id="R5620280165444374" /><Relationship Type="http://schemas.openxmlformats.org/officeDocument/2006/relationships/slide" Target="/ppt/slides/slide7.xml" Id="R39315d016c0240b0" /><Relationship Type="http://schemas.openxmlformats.org/officeDocument/2006/relationships/slide" Target="/ppt/slides/slide8.xml" Id="R82f65d065f8b495a" /><Relationship Type="http://schemas.openxmlformats.org/officeDocument/2006/relationships/slide" Target="/ppt/slides/slide9.xml" Id="R0e296a57639f443b" /><Relationship Type="http://schemas.openxmlformats.org/officeDocument/2006/relationships/slide" Target="/ppt/slides/slide10.xml" Id="R6555df51c8bb423c" /><Relationship Type="http://schemas.openxmlformats.org/officeDocument/2006/relationships/slide" Target="/ppt/slides/slide11.xml" Id="R2828ca896abf4dd3" /><Relationship Type="http://schemas.openxmlformats.org/officeDocument/2006/relationships/slide" Target="/ppt/slides/slide12.xml" Id="R74ab991ab39149e2" /><Relationship Type="http://schemas.openxmlformats.org/officeDocument/2006/relationships/slide" Target="/ppt/slides/slide13.xml" Id="R106d8b10a0b745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46fed57320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d71d5240174cf6" /><Relationship Type="http://schemas.openxmlformats.org/officeDocument/2006/relationships/notesMaster" Target="/ppt/notesMasters/notesMaster1.xml" Id="R0f72883d63e148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7bdf16af454364" /><Relationship Type="http://schemas.openxmlformats.org/officeDocument/2006/relationships/notesMaster" Target="/ppt/notesMasters/notesMaster1.xml" Id="Rceda3407c6c94f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78fd0a46e74382" /><Relationship Type="http://schemas.openxmlformats.org/officeDocument/2006/relationships/notesMaster" Target="/ppt/notesMasters/notesMaster1.xml" Id="R93b611c97562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d3a86ec3574435" /><Relationship Type="http://schemas.openxmlformats.org/officeDocument/2006/relationships/notesMaster" Target="/ppt/notesMasters/notesMaster1.xml" Id="R59498bf0e8ff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88ba492b884c41" /><Relationship Type="http://schemas.openxmlformats.org/officeDocument/2006/relationships/notesMaster" Target="/ppt/notesMasters/notesMaster1.xml" Id="Rcf30618d569f40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5607e9aee453e" /><Relationship Type="http://schemas.openxmlformats.org/officeDocument/2006/relationships/notesMaster" Target="/ppt/notesMasters/notesMaster1.xml" Id="R1b52283705b647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b671d1c890426e" /><Relationship Type="http://schemas.openxmlformats.org/officeDocument/2006/relationships/notesMaster" Target="/ppt/notesMasters/notesMaster1.xml" Id="R19f357be5c4642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d72116490b4ee5" /><Relationship Type="http://schemas.openxmlformats.org/officeDocument/2006/relationships/notesMaster" Target="/ppt/notesMasters/notesMaster1.xml" Id="Rf6a1adc44b3745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1a471aef0f45a7" /><Relationship Type="http://schemas.openxmlformats.org/officeDocument/2006/relationships/notesMaster" Target="/ppt/notesMasters/notesMaster1.xml" Id="R100919b211f248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5d31bd42ad4ee8" /><Relationship Type="http://schemas.openxmlformats.org/officeDocument/2006/relationships/notesMaster" Target="/ppt/notesMasters/notesMaster1.xml" Id="R5c47b9a7d91c47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ed9c8d3e3146f7" /><Relationship Type="http://schemas.openxmlformats.org/officeDocument/2006/relationships/notesMaster" Target="/ppt/notesMasters/notesMaster1.xml" Id="R3de70da2fe5a40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c4670f61314ae5" /><Relationship Type="http://schemas.openxmlformats.org/officeDocument/2006/relationships/notesMaster" Target="/ppt/notesMasters/notesMaster1.xml" Id="Rb8756247dfff48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645fb9f48c483d" /><Relationship Type="http://schemas.openxmlformats.org/officeDocument/2006/relationships/notesMaster" Target="/ppt/notesMasters/notesMaster1.xml" Id="R5c9537c515284b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reports/native-pilot-20260925.md</a:t>
            </a:r>
          </a:p>
          <a:p xmlns:a="http://schemas.openxmlformats.org/drawingml/2006/main">
            <a:r>
              <a:t>Embedded HTML evidence: native/status.json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offline-smoke-20260925/summary.json</a:t>
            </a:r>
          </a:p>
          <a:p xmlns:a="http://schemas.openxmlformats.org/drawingml/2006/main">
            <a:r>
              <a:t>Embedded HTML evidence: offline-milestones-20260925/retail-tool-parity.json</a:t>
            </a:r>
          </a:p>
          <a:p xmlns:a="http://schemas.openxmlformats.org/drawingml/2006/main">
            <a:r>
              <a:t>Embedded HTML evidence: offline-milestones-20260925/atflows-http-report.json</a:t>
            </a:r>
          </a:p>
          <a:p xmlns:a="http://schemas.openxmlformats.org/drawingml/2006/main">
            <a:r>
              <a:t>Embedded HTML evidence: native/status.json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offline-smoke-20260925/trials.jsonl</a:t>
            </a:r>
          </a:p>
          <a:p xmlns:a="http://schemas.openxmlformats.org/drawingml/2006/main">
            <a:r>
              <a:t>Embedded HTML evidence: reports/implementation-status.md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native/status.json</a:t>
            </a:r>
          </a:p>
          <a:p xmlns:a="http://schemas.openxmlformats.org/drawingml/2006/main">
            <a:r>
              <a:t>Embedded HTML evidence: native/manifest.json</a:t>
            </a:r>
          </a:p>
          <a:p xmlns:a="http://schemas.openxmlformats.org/drawingml/2006/main">
            <a:r>
              <a:t>Embedded HTML evidence: native/trajectory.json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native/manifest.json</a:t>
            </a:r>
          </a:p>
          <a:p xmlns:a="http://schemas.openxmlformats.org/drawingml/2006/main">
            <a:r>
              <a:t>Embedded HTML evidence: native/trajectory.json</a:t>
            </a:r>
          </a:p>
          <a:p xmlns:a="http://schemas.openxmlformats.org/drawingml/2006/main">
            <a:r>
              <a:t>Embedded HTML evidence: native/status.json</a:t>
            </a:r>
          </a:p>
          <a:p xmlns:a="http://schemas.openxmlformats.org/drawingml/2006/main">
            <a:r>
              <a:t>Embedded HTML evidence: reports/native-pilot-20260925.md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native/accounting.json</a:t>
            </a:r>
          </a:p>
          <a:p xmlns:a="http://schemas.openxmlformats.org/drawingml/2006/main">
            <a:r>
              <a:t>Embedded HTML evidence: native/manifest.json</a:t>
            </a:r>
          </a:p>
          <a:p xmlns:a="http://schemas.openxmlformats.org/drawingml/2006/main">
            <a:r>
              <a:t>https://developers.openai.com/api/docs/models/gpt-4.1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native/accounting.json</a:t>
            </a:r>
          </a:p>
          <a:p xmlns:a="http://schemas.openxmlformats.org/drawingml/2006/main">
            <a:r>
              <a:t>Embedded HTML evidence: native/SHA256SUMS.json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implementation/spend.py</a:t>
            </a:r>
          </a:p>
          <a:p xmlns:a="http://schemas.openxmlformats.org/drawingml/2006/main">
            <a:r>
              <a:t>Embedded HTML evidence: implementation/live_transport.py</a:t>
            </a:r>
          </a:p>
          <a:p xmlns:a="http://schemas.openxmlformats.org/drawingml/2006/main">
            <a:r>
              <a:t>Embedded HTML evidence: native/accounting.json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implementation/native_pilot.py</a:t>
            </a:r>
          </a:p>
          <a:p xmlns:a="http://schemas.openxmlformats.org/drawingml/2006/main">
            <a:r>
              <a:t>Embedded HTML evidence: implementation/live_transport.py</a:t>
            </a:r>
          </a:p>
          <a:p xmlns:a="http://schemas.openxmlformats.org/drawingml/2006/main">
            <a:r>
              <a:t>Embedded HTML evidence: implementation/spend.py</a:t>
            </a:r>
          </a:p>
          <a:p xmlns:a="http://schemas.openxmlformats.org/drawingml/2006/main">
            <a:r>
              <a:t>Embedded HTML evidence: implementation/retail.py</a:t>
            </a:r>
          </a:p>
          <a:p xmlns:a="http://schemas.openxmlformats.org/drawingml/2006/main">
            <a:r>
              <a:t>Embedded HTML evidence: atflows/http-probe.ts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offline-milestones-20260925/atflows-http-report.json</a:t>
            </a:r>
          </a:p>
          <a:p xmlns:a="http://schemas.openxmlformats.org/drawingml/2006/main">
            <a:r>
              <a:t>Embedded HTML evidence: atflows/http-probe.ts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native/SHA256SUMS.json</a:t>
            </a:r>
          </a:p>
          <a:p xmlns:a="http://schemas.openxmlformats.org/drawingml/2006/main">
            <a:r>
              <a:t>Embedded HTML evidence: native/manifest.json</a:t>
            </a:r>
          </a:p>
          <a:p xmlns:a="http://schemas.openxmlformats.org/drawingml/2006/main">
            <a:r>
              <a:t>Embedded HTML evidence: native/accounting.json</a:t>
            </a:r>
          </a:p>
          <a:p xmlns:a="http://schemas.openxmlformats.org/drawingml/2006/main">
            <a:r>
              <a:t>Embedded HTML evidence: native/trajectory.json</a:t>
            </a:r>
          </a:p>
          <a:p xmlns:a="http://schemas.openxmlformats.org/drawingml/2006/main">
            <a:r>
              <a:t>Embedded HTML evidence: spec/milestone-reviews.md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reports/native-pilot-20260925.md</a:t>
            </a:r>
          </a:p>
          <a:p xmlns:a="http://schemas.openxmlformats.org/drawingml/2006/main">
            <a:r>
              <a:t>Embedded HTML evidence: reports/milestones-20260925.md</a:t>
            </a:r>
          </a:p>
          <a:p xmlns:a="http://schemas.openxmlformats.org/drawingml/2006/main">
            <a:r>
              <a:t>Embedded HTML evidence: spec/milestone-reviews.md</a:t>
            </a:r>
          </a:p>
          <a:p xmlns:a="http://schemas.openxmlformats.org/drawingml/2006/main">
            <a:r>
              <a:t>Embedded HTML evidence: spec/tasks.md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Embedded HTML evidence: spec/plan.md</a:t>
            </a:r>
          </a:p>
          <a:p xmlns:a="http://schemas.openxmlformats.org/drawingml/2006/main">
            <a:r>
              <a:t>Embedded HTML evidence: spec/tasks.md</a:t>
            </a:r>
          </a:p>
          <a:p xmlns:a="http://schemas.openxmlformats.org/drawingml/2006/main">
            <a:r>
              <a:t>Embedded HTML evidence: reports/native-pilot-20260925.md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dc116ec7547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1a5eeb8587411a" /><Relationship Type="http://schemas.openxmlformats.org/officeDocument/2006/relationships/slideLayout" Target="/ppt/slideLayouts/slideLayout1.xml" Id="R22f468b4d270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468b4d270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7eaeb67174bd9" /><Relationship Type="http://schemas.openxmlformats.org/officeDocument/2006/relationships/notesSlide" Target="/ppt/notesSlides/notesSlide1.xml" Id="R16f8a42b278f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9f6ed42a54323" /><Relationship Type="http://schemas.openxmlformats.org/officeDocument/2006/relationships/notesSlide" Target="/ppt/notesSlides/notesSlide2.xml" Id="Rd07b7dcdd41c47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3479fc75f4b8f" /><Relationship Type="http://schemas.openxmlformats.org/officeDocument/2006/relationships/notesSlide" Target="/ppt/notesSlides/notesSlide3.xml" Id="Ra2aa619588ab46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4778b2ab447e1" /><Relationship Type="http://schemas.openxmlformats.org/officeDocument/2006/relationships/notesSlide" Target="/ppt/notesSlides/notesSlide4.xml" Id="Rba179e8d7a4241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09711f95444b1" /><Relationship Type="http://schemas.openxmlformats.org/officeDocument/2006/relationships/notesSlide" Target="/ppt/notesSlides/notesSlide5.xml" Id="R1058990f72e841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7562d82fa4d76" /><Relationship Type="http://schemas.openxmlformats.org/officeDocument/2006/relationships/notesSlide" Target="/ppt/notesSlides/notesSlide6.xml" Id="R102c840d3f5d41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4a34e6c784075" /><Relationship Type="http://schemas.openxmlformats.org/officeDocument/2006/relationships/chart" Target="/ppt/slides/charts/chart1.xml" Id="R3c168ea577d644be" /><Relationship Type="http://schemas.openxmlformats.org/officeDocument/2006/relationships/notesSlide" Target="/ppt/notesSlides/notesSlide7.xml" Id="R69e2d7ad3fe441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f1c8629384c54" /><Relationship Type="http://schemas.openxmlformats.org/officeDocument/2006/relationships/notesSlide" Target="/ppt/notesSlides/notesSlide8.xml" Id="R85862e983e2848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8e3c4ec1b4e65" /><Relationship Type="http://schemas.openxmlformats.org/officeDocument/2006/relationships/notesSlide" Target="/ppt/notesSlides/notesSlide9.xml" Id="R7f4f1ecb247b4c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98e6cbbdf44e2" /><Relationship Type="http://schemas.openxmlformats.org/officeDocument/2006/relationships/notesSlide" Target="/ppt/notesSlides/notesSlide10.xml" Id="R6ae6c72c090b41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b955c968240c7" /><Relationship Type="http://schemas.openxmlformats.org/officeDocument/2006/relationships/notesSlide" Target="/ppt/notesSlides/notesSlide11.xml" Id="R82fc883c2eb64e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1fe486811473f" /><Relationship Type="http://schemas.openxmlformats.org/officeDocument/2006/relationships/notesSlide" Target="/ppt/notesSlides/notesSlide12.xml" Id="Rfeaf014d734d45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01548fb5446b1" /><Relationship Type="http://schemas.openxmlformats.org/officeDocument/2006/relationships/notesSlide" Target="/ppt/notesSlides/notesSlide13.xml" Id="Re859b25ed761488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Seconds per API call</c:v>
          </c:tx>
          <c:spPr>
            <a:solidFill xmlns:a="http://schemas.openxmlformats.org/drawingml/2006/main">
              <a:srgbClr val="5FD0D6"/>
            </a:solidFill>
          </c:spPr>
          <c:marker>
            <c:symbol val="none"/>
          </c:marker>
          <c:cat>
            <c:numLit>
              <c:formatCode>General</c:formatCode>
              <c:ptCount val="1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</c:numLit>
          </c:cat>
          <c:val>
            <c:numLit>
              <c:formatCode>0.0</c:formatCode>
              <c:ptCount val="18"/>
              <c:pt idx="0">
                <c:v>2.8466765829361975</c:v>
              </c:pt>
              <c:pt idx="1">
                <c:v>1.8264082081150264</c:v>
              </c:pt>
              <c:pt idx="2">
                <c:v>1.9614740000106394</c:v>
              </c:pt>
              <c:pt idx="3">
                <c:v>1.8408761250320822</c:v>
              </c:pt>
              <c:pt idx="4">
                <c:v>0.7605133329052478</c:v>
              </c:pt>
              <c:pt idx="5">
                <c:v>2.7693239168729633</c:v>
              </c:pt>
              <c:pt idx="6">
                <c:v>1.767249290831387</c:v>
              </c:pt>
              <c:pt idx="7">
                <c:v>1.7315633748658001</c:v>
              </c:pt>
              <c:pt idx="8">
                <c:v>2.336268125101924</c:v>
              </c:pt>
              <c:pt idx="9">
                <c:v>0.8118512500077486</c:v>
              </c:pt>
              <c:pt idx="10">
                <c:v>0.965297708986327</c:v>
              </c:pt>
              <c:pt idx="11">
                <c:v>2.1205931659787893</c:v>
              </c:pt>
              <c:pt idx="12">
                <c:v>1.0250607910566032</c:v>
              </c:pt>
              <c:pt idx="13">
                <c:v>1.7636578329838812</c:v>
              </c:pt>
              <c:pt idx="14">
                <c:v>0.9366448749788105</c:v>
              </c:pt>
              <c:pt idx="15">
                <c:v>1.1696690418757498</c:v>
              </c:pt>
              <c:pt idx="16">
                <c:v>1.2413422500248998</c:v>
              </c:pt>
              <c:pt idx="17">
                <c:v>0.8099169170018286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A9B9B9"/>
                    </a:solidFill>
                  </a:rPr>
                  <a:t>Call order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A9B9B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9B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A9B9B9"/>
                    </a:solidFill>
                  </a:rPr>
                  <a:t>Seconds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A9B9B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9B9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819"/>
        </a:solidFill>
      </c:spPr>
    </c:plotArea>
    <c:plotVisOnly val="1"/>
  </c:chart>
  <c:spPr>
    <a:solidFill xmlns:a="http://schemas.openxmlformats.org/drawingml/2006/main">
      <a:srgbClr val="101819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4694A-F894-4106-AFEC-19CEA6BC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F02D1-2101-4ACE-A347-BCEF1371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01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F3CDF-10A8-4A49-A3CD-4A33C34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IMPLEMENTATION &amp; BENCHMARK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0D05E-C852-425D-98FB-9F1E1574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0F5F4"/>
                </a:solidFill>
              </a:defRPr>
            </a:pPr>
            <a:r>
              <a:rPr sz="5400" b="1">
                <a:solidFill>
                  <a:srgbClr val="F0F5F4"/>
                </a:solidFill>
              </a:rPr>
              <a:t>Agent continuity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D8B9E-BF78-4D8D-B1BA-2CF0829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F42DF-8AC1-4099-9373-3E52E4A4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ACC42-982E-4247-A87A-3D7690F7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0F5F4"/>
                </a:solidFill>
              </a:defRPr>
            </a:pPr>
            <a:r>
              <a:rPr sz="2550" b="0">
                <a:solidFill>
                  <a:srgbClr val="F0F5F4"/>
                </a:solidFill>
              </a:rPr>
              <a:t>What works. What failed. What remains unproven.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66133-B22F-4676-8CFD-07765BCD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9B9B9"/>
                </a:solidFill>
              </a:defRPr>
            </a:pPr>
            <a:r>
              <a:rPr sz="2250" b="0">
                <a:solidFill>
                  <a:srgbClr val="A9B9B9"/>
                </a:solidFill>
              </a:rPr>
              <a:t>One live public-workload pilot, backed by offline recovery and trace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36AC9-4069-4246-BC3A-6D0E8E03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FBD74"/>
                </a:solidFill>
              </a:defRPr>
            </a:pPr>
            <a:r>
              <a:rPr sz="2400" b="1">
                <a:solidFill>
                  <a:srgbClr val="EFBD74"/>
                </a:solidFill>
              </a:rPr>
              <a:t>The first live task scored 0. The evidence explains why.</a:t>
            </a:r>
          </a:p>
        </p:txBody>
      </p:sp>
    </p:spTree>
    <p:extLst>
      <p:ext uri="{BB962C8B-B14F-4D97-AF65-F5344CB8AC3E}">
        <p14:creationId xmlns:p14="http://schemas.microsoft.com/office/powerpoint/2010/main" val="1077402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8A8E4-B50C-44D2-B52E-F90304E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6DBEC-120F-4DC3-A1CC-8053AD46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02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DAC81-64D6-4889-A8A7-6F414BD8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EVIDENCE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BBD86-FFE1-48FA-8B5A-C0171786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Four checks—not one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2E65D-7C5F-4084-9C62-731871B7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B794C-6E06-4913-8877-DA21D473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0DC0C-57A3-48D9-9941-2002272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D0D6"/>
                </a:solidFill>
              </a:defRPr>
            </a:pPr>
            <a:r>
              <a:rPr sz="2100" b="1">
                <a:solidFill>
                  <a:srgbClr val="5FD0D6"/>
                </a:solidFill>
              </a:rPr>
              <a:t>Crash fixtures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0FEB6-05C0-45F0-84C0-3AE18BBC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3365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5F4"/>
                </a:solidFill>
              </a:defRPr>
            </a:pPr>
            <a:r>
              <a:rPr sz="2100" b="0">
                <a:solidFill>
                  <a:srgbClr val="F0F5F4"/>
                </a:solidFill>
              </a:rPr>
              <a:t>61 cells · synthetic · tests recovery mechanics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C51BD-AFBC-491E-81F7-4B3AAD96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D0D6"/>
                </a:solidFill>
              </a:defRPr>
            </a:pPr>
            <a:r>
              <a:rPr sz="2100" b="1">
                <a:solidFill>
                  <a:srgbClr val="5FD0D6"/>
                </a:solidFill>
              </a:rPr>
              <a:t>Retail tool parity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7A0DE-9151-423A-82B9-AA170EE0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7660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5F4"/>
                </a:solidFill>
              </a:defRPr>
            </a:pPr>
            <a:r>
              <a:rPr sz="2100" b="0">
                <a:solidFill>
                  <a:srgbClr val="F0F5F4"/>
                </a:solidFill>
              </a:rPr>
              <a:t>5/5 responses + final DB matched · no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D9FA4-BCC7-4417-B580-E8DFB34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D0D6"/>
                </a:solidFill>
              </a:defRPr>
            </a:pPr>
            <a:r>
              <a:rPr sz="2100" b="1">
                <a:solidFill>
                  <a:srgbClr val="5FD0D6"/>
                </a:solidFill>
              </a:rPr>
              <a:t>AtFlows HTTP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20779-B1D1-4A7D-8F9A-26DD1CD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1955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5F4"/>
                </a:solidFill>
              </a:defRPr>
            </a:pPr>
            <a:r>
              <a:rPr sz="2100" b="0">
                <a:solidFill>
                  <a:srgbClr val="F0F5F4"/>
                </a:solidFill>
              </a:rPr>
              <a:t>Unmodified server · deliberate replay and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1205C-13F9-4796-9E76-2A3E8493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D0D6"/>
                </a:solidFill>
              </a:defRPr>
            </a:pPr>
            <a:r>
              <a:rPr sz="2100" b="1">
                <a:solidFill>
                  <a:srgbClr val="5FD0D6"/>
                </a:solidFill>
              </a:rPr>
              <a:t>Live retail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8E304-4B70-477C-B049-C57DF563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5F4"/>
                </a:solidFill>
              </a:defRPr>
            </a:pPr>
            <a:r>
              <a:rPr sz="2100" b="0">
                <a:solidFill>
                  <a:srgbClr val="F0F5F4"/>
                </a:solidFill>
              </a:rPr>
              <a:t>1 native task · 18 API calls · task reward 0</a:t>
            </a:r>
          </a:p>
        </p:txBody>
      </p:sp>
    </p:spTree>
    <p:extLst>
      <p:ext uri="{BB962C8B-B14F-4D97-AF65-F5344CB8AC3E}">
        <p14:creationId xmlns:p14="http://schemas.microsoft.com/office/powerpoint/2010/main" val="1184248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576E0-1A11-41C7-91AF-43D0663F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A0A69-A130-49FD-8859-90887172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03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8095B-E28E-432D-BF68-713A06BB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COMPETENT BASELINE VS +ATMEM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2E30C-CE96-4B0E-A0F5-BECE138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Offline recovery: no advantage yet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8E45-CD3E-45A9-B8FF-A9B18EB0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9876B-8040-4A72-836D-A4C66F48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64A01-4085-477C-AE0B-A4FC8F3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D0D6"/>
                </a:solidFill>
              </a:defRPr>
            </a:pPr>
            <a:r>
              <a:rPr sz="2100" b="1">
                <a:solidFill>
                  <a:srgbClr val="5FD0D6"/>
                </a:solidFill>
              </a:rPr>
              <a:t>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285EA-326F-4845-A7BA-F3137A93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5F4"/>
                </a:solidFill>
              </a:defRPr>
            </a:pPr>
            <a:r>
              <a:rPr sz="2100" b="0">
                <a:solidFill>
                  <a:srgbClr val="F0F5F4"/>
                </a:solidFill>
              </a:rPr>
              <a:t>Completed / safely blocked / bad effects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7BEF4-25CD-4EA5-864E-D3C69491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D0D6"/>
                </a:solidFill>
              </a:defRPr>
            </a:pPr>
            <a:r>
              <a:rPr sz="2100" b="1">
                <a:solidFill>
                  <a:srgbClr val="5FD0D6"/>
                </a:solidFill>
              </a:rPr>
              <a:t>Durable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B2D34-9A60-47A6-91AA-BCD3091D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5F4"/>
                </a:solidFill>
              </a:defRPr>
            </a:pPr>
            <a:r>
              <a:rPr sz="2100" b="0">
                <a:solidFill>
                  <a:srgbClr val="F0F5F4"/>
                </a:solidFill>
              </a:rPr>
              <a:t>24 / 6 / 0  —  30 fixture cells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071BE-E0C4-4880-88B6-B8F13BBC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D0D6"/>
                </a:solidFill>
              </a:defRPr>
            </a:pPr>
            <a:r>
              <a:rPr sz="2100" b="1">
                <a:solidFill>
                  <a:srgbClr val="5FD0D6"/>
                </a:solidFill>
              </a:rPr>
              <a:t>Runtime + AtMem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B1C70-B722-47DB-8AAF-4124A151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5F4"/>
                </a:solidFill>
              </a:defRPr>
            </a:pPr>
            <a:r>
              <a:rPr sz="2100" b="0">
                <a:solidFill>
                  <a:srgbClr val="F0F5F4"/>
                </a:solidFill>
              </a:rPr>
              <a:t>24 / 6 / 0  —  30 fixture cells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B3CE8-971E-49C9-A295-351E841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BD74"/>
                </a:solidFill>
              </a:defRPr>
            </a:pPr>
            <a:r>
              <a:rPr sz="2025" b="0">
                <a:solidFill>
                  <a:srgbClr val="EFBD74"/>
                </a:solidFill>
              </a:rPr>
              <a:t>Separate negative control: a naïve restart duplicated an effect.</a:t>
            </a:r>
          </a:p>
          <a:p xmlns:a="http://schemas.openxmlformats.org/drawingml/2006/main">
            <a:pPr>
              <a:defRPr sz="2025" b="0">
                <a:solidFill>
                  <a:srgbClr val="EFBD74"/>
                </a:solidFill>
              </a:defRPr>
            </a:pPr>
            <a:r>
              <a:rPr sz="2025" b="0">
                <a:solidFill>
                  <a:srgbClr val="EFBD74"/>
                </a:solidFill>
              </a:rPr>
              <a:t>The evaluator detected it. This proves detection—not product superiority.</a:t>
            </a:r>
          </a:p>
        </p:txBody>
      </p:sp>
    </p:spTree>
    <p:extLst>
      <p:ext uri="{BB962C8B-B14F-4D97-AF65-F5344CB8AC3E}">
        <p14:creationId xmlns:p14="http://schemas.microsoft.com/office/powerpoint/2010/main" val="497626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A2A60-72BF-4D54-9D25-605904C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182FD-3A7F-4770-A9B8-5B86C125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04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F49FD-8A2D-44C0-B29F-9EC072BF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LIVE NATIVE PILOT · PUBLIC RETAIL TASK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DF05E-7349-4DD1-BB18-78704789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The conversation finished. The task failed.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7E358-535B-4540-9741-ACB942AB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B1DCB-C4CE-4B0B-B1E2-F4902531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2AFEC-935A-4704-A4B6-12813E2B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Task reward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417A4-62A8-4208-B66C-7A81407F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798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0 · final database did not match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0A418-70AA-45A1-AE28-7EAB745F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CEF9D-690B-42DA-B951-A867975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798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18 model calls · 6 tool calls · 0 tool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2C9E6-231F-4F6C-AF5B-DF52E51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Observed duration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D75F6-2515-428B-A282-93F7A0DA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19550"/>
            <a:ext cx="798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29.022 s · simulation + local grading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CA30A-5FF3-4BBA-9372-296F423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D932D-F6FB-4158-9443-2B63266E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62500"/>
            <a:ext cx="798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No injected crash; neither AtMem nor AtFlows in this arm</a:t>
            </a:r>
          </a:p>
        </p:txBody>
      </p:sp>
    </p:spTree>
    <p:extLst>
      <p:ext uri="{BB962C8B-B14F-4D97-AF65-F5344CB8AC3E}">
        <p14:creationId xmlns:p14="http://schemas.microsoft.com/office/powerpoint/2010/main" val="1598072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D4836-F4C0-4668-8D57-8BF1D878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BFB4E-2418-4566-83F1-9BA11A7C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05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B8B11-7B9A-4C56-9B79-FA9DB1F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WHY THE SCORE IS 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CFC36-7186-4678-BF88-8FA911A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The transcript exposes the mismatch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6274B-992F-4611-BBEB-4F0A281A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BF67A-B863-40BA-856D-21473C33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62B88-73FC-47A1-A272-55841A41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01 · Assigned preference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885F1-5D92-4021-8DC9-0A443998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3365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If RGB is unavailable, choose no backlight.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D1378-F7DE-4C97-9247-1750D9B1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02 · Simulated customer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1465C-DC2A-4CFF-828B-464F98E9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7660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Chooses white backlight, then confirms.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1CB37-B21A-401A-8BE6-5D828135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03 · Actual 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F7F8F-DAF1-4B15-9749-A46994F1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1955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Keyboard 6342039236; reference expects 7706410293.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D3021-79E3-4F5D-B849-BB68FB15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04 ·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7932E-3F2B-406A-9607-737934F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DB mismatch. A positive closing message is not proof.</a:t>
            </a:r>
          </a:p>
        </p:txBody>
      </p:sp>
    </p:spTree>
    <p:extLst>
      <p:ext uri="{BB962C8B-B14F-4D97-AF65-F5344CB8AC3E}">
        <p14:creationId xmlns:p14="http://schemas.microsoft.com/office/powerpoint/2010/main" val="1821900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A286C-3F85-4346-B35B-13F370C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854E8-DB48-457A-A66E-28EB89CF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06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41115-D6B1-439C-84FB-450FD6D3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MEASURED USAGE · ESTIMATED USD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CEF33-1B21-449A-A1F5-F3E6D75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The pilot cost about six cents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B5C86-C4AE-463A-BC1B-29629651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80339-5340-42B1-A23C-5A42C80E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F619B-D550-4CC5-AB46-347F5B18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FD0D6"/>
                </a:solidFill>
              </a:defRPr>
            </a:pPr>
            <a:r>
              <a:rPr sz="5400" b="1">
                <a:solidFill>
                  <a:srgbClr val="5FD0D6"/>
                </a:solidFill>
              </a:rPr>
              <a:t>$0.057324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735D5-4BA7-41D2-919A-A4133AC8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0F5F4"/>
                </a:solidFill>
              </a:defRPr>
            </a:pPr>
            <a:r>
              <a:rPr sz="2400" b="0">
                <a:solidFill>
                  <a:srgbClr val="F0F5F4"/>
                </a:solidFill>
              </a:rPr>
              <a:t>18 calls · no unknown charges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877DC-C81E-4DE6-B90E-623C1C19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FD0D6"/>
                </a:solidFill>
              </a:defRPr>
            </a:pPr>
            <a:r>
              <a:rPr sz="1875" b="1">
                <a:solidFill>
                  <a:srgbClr val="5FD0D6"/>
                </a:solidFill>
              </a:rPr>
              <a:t>Agent · 11 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C0056-CAE7-46B0-8F5A-B6516448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0325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5F4"/>
                </a:solidFill>
              </a:defRPr>
            </a:pPr>
            <a:r>
              <a:rPr sz="1875" b="0">
                <a:solidFill>
                  <a:srgbClr val="F0F5F4"/>
                </a:solidFill>
              </a:rPr>
              <a:t>$0.045506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F3AE8-D2D2-43EC-BD37-2492D51B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FD0D6"/>
                </a:solidFill>
              </a:defRPr>
            </a:pPr>
            <a:r>
              <a:rPr sz="1875" b="1">
                <a:solidFill>
                  <a:srgbClr val="5FD0D6"/>
                </a:solidFill>
              </a:rPr>
              <a:t>Simulator · 7 calls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D16AD-B5F6-404E-B5E8-E0D348D8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909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5F4"/>
                </a:solidFill>
              </a:defRPr>
            </a:pPr>
            <a:r>
              <a:rPr sz="1875" b="0">
                <a:solidFill>
                  <a:srgbClr val="F0F5F4"/>
                </a:solidFill>
              </a:rPr>
              <a:t>$0.011818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A89F4-8962-4625-A74F-CBC6B423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814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FD0D6"/>
                </a:solidFill>
              </a:defRPr>
            </a:pPr>
            <a:r>
              <a:rPr sz="1875" b="1">
                <a:solidFill>
                  <a:srgbClr val="5FD0D6"/>
                </a:solidFill>
              </a:rPr>
              <a:t>Grader · 0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B34AD-734F-4BF8-89B4-F691FFFA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81475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5F4"/>
                </a:solidFill>
              </a:defRPr>
            </a:pPr>
            <a:r>
              <a:rPr sz="1875" b="0">
                <a:solidFill>
                  <a:srgbClr val="F0F5F4"/>
                </a:solidFill>
              </a:rPr>
              <a:t>No actual NL assertions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AADE3-C0BD-476D-A07B-28D80846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9B9B9"/>
                </a:solidFill>
              </a:defRPr>
            </a:pPr>
            <a:r>
              <a:rPr sz="2100" b="0">
                <a:solidFill>
                  <a:srgbClr val="A9B9B9"/>
                </a:solidFill>
              </a:rPr>
              <a:t>Includes cached-input discounts. Provider invoice not verified.</a:t>
            </a:r>
          </a:p>
          <a:p xmlns:a="http://schemas.openxmlformats.org/drawingml/2006/main">
            <a:pPr>
              <a:defRPr sz="2100" b="0">
                <a:solidFill>
                  <a:srgbClr val="A9B9B9"/>
                </a:solidFill>
              </a:defRPr>
            </a:pPr>
            <a:r>
              <a:rPr sz="2100" b="0">
                <a:solidFill>
                  <a:srgbClr val="A9B9B9"/>
                </a:solidFill>
              </a:rPr>
              <a:t>US$19.942676 remains under the shared US$20 allowance.</a:t>
            </a:r>
          </a:p>
        </p:txBody>
      </p:sp>
    </p:spTree>
    <p:extLst>
      <p:ext uri="{BB962C8B-B14F-4D97-AF65-F5344CB8AC3E}">
        <p14:creationId xmlns:p14="http://schemas.microsoft.com/office/powerpoint/2010/main" val="954460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9F497-3781-4031-8688-9D855FF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90AA5-C031-4036-999E-6B5DC15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07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263BD-0359-418A-A8C5-8858B888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OBSERVED CALLS · NOT A PRODUCTION LATENCY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222EE-9BAF-4782-8840-024A6CFB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Every API call has a latency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255B5-7234-4691-B97C-9B325D7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4152F-826E-4DAC-B4C3-1EB6E484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514600"/>
          <a:ext xmlns:a="http://schemas.openxmlformats.org/drawingml/2006/main" cx="7810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168ea577d644b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05892-EEFE-4E1D-9851-C669FA6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432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FD0D6"/>
                </a:solidFill>
              </a:defRPr>
            </a:pPr>
            <a:r>
              <a:rPr sz="2850" b="1">
                <a:solidFill>
                  <a:srgbClr val="5FD0D6"/>
                </a:solidFill>
              </a:rPr>
              <a:t>18 calls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194F0-64B4-4484-8B49-61C3D5BE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385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5F4"/>
                </a:solidFill>
              </a:defRPr>
            </a:pPr>
            <a:r>
              <a:rPr sz="2250" b="0">
                <a:solidFill>
                  <a:srgbClr val="F0F5F4"/>
                </a:solidFill>
              </a:rPr>
              <a:t>0.76–2.85 s</a:t>
            </a:r>
          </a:p>
          <a:p xmlns:a="http://schemas.openxmlformats.org/drawingml/2006/main">
            <a:pPr>
              <a:defRPr sz="2250" b="0">
                <a:solidFill>
                  <a:srgbClr val="F0F5F4"/>
                </a:solidFill>
              </a:defRPr>
            </a:pPr>
            <a:r>
              <a:rPr sz="2250" b="0">
                <a:solidFill>
                  <a:srgbClr val="F0F5F4"/>
                </a:solidFill>
              </a:rPr>
              <a:t>observed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345D3-7EC2-4381-8AB4-291DAF27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38700"/>
            <a:ext cx="2619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9B9B9"/>
                </a:solidFill>
              </a:defRPr>
            </a:pPr>
            <a:r>
              <a:rPr sz="1800" b="0">
                <a:solidFill>
                  <a:srgbClr val="A9B9B9"/>
                </a:solidFill>
              </a:rPr>
              <a:t>One trajectory.</a:t>
            </a:r>
          </a:p>
          <a:p xmlns:a="http://schemas.openxmlformats.org/drawingml/2006/main">
            <a:pPr>
              <a:defRPr sz="1800" b="0">
                <a:solidFill>
                  <a:srgbClr val="A9B9B9"/>
                </a:solidFill>
              </a:defRPr>
            </a:pPr>
            <a:r>
              <a:rPr sz="1800" b="0">
                <a:solidFill>
                  <a:srgbClr val="A9B9B9"/>
                </a:solidFill>
              </a:rPr>
              <a:t>No service-level</a:t>
            </a:r>
          </a:p>
          <a:p xmlns:a="http://schemas.openxmlformats.org/drawingml/2006/main">
            <a:pPr>
              <a:defRPr sz="1800" b="0">
                <a:solidFill>
                  <a:srgbClr val="A9B9B9"/>
                </a:solidFill>
              </a:defRPr>
            </a:pPr>
            <a:r>
              <a:rPr sz="1800" b="0">
                <a:solidFill>
                  <a:srgbClr val="A9B9B9"/>
                </a:solidFill>
              </a:rPr>
              <a:t>p95 claim.</a:t>
            </a:r>
          </a:p>
        </p:txBody>
      </p:sp>
    </p:spTree>
    <p:extLst>
      <p:ext uri="{BB962C8B-B14F-4D97-AF65-F5344CB8AC3E}">
        <p14:creationId xmlns:p14="http://schemas.microsoft.com/office/powerpoint/2010/main" val="1680731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D17F1-9E3B-493E-8260-B80FCB5F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454DC-7DE1-46EE-AE41-0FD74F7F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08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6C856-7DC0-4742-92C0-49B87FE3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IMPLEMENTED · INDEPENDENT SPEND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5DC24-C3D3-4655-A827-524E9BF2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A restart must not reset the budget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DFCAA-EDA8-4D36-BCCA-58E56373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FF1CE-7D69-4F03-B299-E88660C3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0599C-EE44-43FB-92F3-833F1C81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Before 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88F81-79B6-439D-97A5-DEFCF097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33650"/>
            <a:ext cx="745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Reserve a conservative US$2.20 per attempt.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F7230-9907-497C-93D3-0E9ABCC2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After a valid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5D19D-9A96-42CE-B461-10605F5D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76600"/>
            <a:ext cx="745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Save response; settle observed usage estimate.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5EE04-C500-4F78-ACA3-34ADA128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If outcome is unknown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4FAA8-B2F2-4EA9-A4EE-CCFE06E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019550"/>
            <a:ext cx="745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Keep the full reservation; halt the transport.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692F1-3CCA-4289-97B4-0B41A47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After process restart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152F7-04F4-407F-BA54-8FD347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62500"/>
            <a:ext cx="745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Reopen the same ledger; reject repeat attempt IDs.</a:t>
            </a:r>
          </a:p>
        </p:txBody>
      </p:sp>
    </p:spTree>
    <p:extLst>
      <p:ext uri="{BB962C8B-B14F-4D97-AF65-F5344CB8AC3E}">
        <p14:creationId xmlns:p14="http://schemas.microsoft.com/office/powerpoint/2010/main" val="1008770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CDE37-13B9-4544-864C-D9711671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E0299-81F1-48B8-95E3-3823A97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09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2D51D-E26F-4934-888C-4E7DF32E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WHAT IS IN THE CURRENT 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1D75B-C899-41CD-9007-A65B0AF0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Implementation: separate responsibilities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EC3B2-B4F3-4211-8D4A-0A1B7061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06CD2-4572-4CDE-A19F-C5809757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82AD6-F4DF-4A17-B634-986E703F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native_pilot.py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8B2BE-3AFA-44FD-B1B9-99F4A3B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33650"/>
            <a:ext cx="745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Pinned native agent, simulator, steps and grading.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390C6-DE2F-437B-A6B9-31FD4259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live_transport.py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4FAEC-9189-49C9-97F7-C1897673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76600"/>
            <a:ext cx="745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Single-attempt HTTP, limits and raw call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F67EA-F5EA-4616-9748-649C0E98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spend.py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B2EE3-C7D8-4EA7-AB95-21F4557F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019550"/>
            <a:ext cx="745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SQLite transactions, reservations and JSON export.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B03CD-079B-4592-A580-013F0D90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retail.py / HTTP probe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17ADC-B0FC-479C-8A83-34E97390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62500"/>
            <a:ext cx="745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Offline tool-process parity / isolated AtFlows ingest.</a:t>
            </a:r>
          </a:p>
        </p:txBody>
      </p:sp>
    </p:spTree>
    <p:extLst>
      <p:ext uri="{BB962C8B-B14F-4D97-AF65-F5344CB8AC3E}">
        <p14:creationId xmlns:p14="http://schemas.microsoft.com/office/powerpoint/2010/main" val="1570270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5D993-1114-4DA0-ACE7-A634FCC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E5152-058F-4612-A2C4-833A729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10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01010-CF59-41FB-BFF6-57D76592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ATFLOWS FIXTURE · NOT LIVE-WORKLOAD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4E55B-EF89-4E30-8949-ACEFE673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Missing telemetry must stay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69617-AEAA-459C-B8C9-1D150C32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AB2F0-2E68-4E1A-83AC-9248D94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0E605-3791-4D1A-A920-8B00A02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3 spans scheduled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7E5A8-3815-476D-9D4E-E70C5FBE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33650"/>
            <a:ext cx="760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2 delivered and retained; 1 deliberately not sent.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73BDA-6DF9-49C7-8E21-157EEF2F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1 replay 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2EFC3-E6D6-46A6-AF2D-331D6D2E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760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Rejected as a duplicate by the current server.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00B35-EF42-4617-8FE5-EA5E1647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Accounting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51767-7D62-48FD-98C1-7457B0C0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19550"/>
            <a:ext cx="760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Missing usage and cost stored as zero in 2 rows.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40BD3-4ADE-421E-A10A-9C1E69F1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What is not measured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0286E-4340-4884-8B98-36685558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62500"/>
            <a:ext cx="760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Cost accuracy: unknown. No real inference in this fixture.</a:t>
            </a:r>
          </a:p>
        </p:txBody>
      </p:sp>
    </p:spTree>
    <p:extLst>
      <p:ext uri="{BB962C8B-B14F-4D97-AF65-F5344CB8AC3E}">
        <p14:creationId xmlns:p14="http://schemas.microsoft.com/office/powerpoint/2010/main" val="9071231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CA276-66A4-432A-B513-00DA1088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3AC6C-AC7C-4A8E-8BA1-54403653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11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74D61-7821-475B-BF2E-6CCCFADE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INSPECT OR DOWNLOAD · NO NETWORK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C5DFD-5CEA-44BB-BABF-A1868B7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The HTML contains the original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9F772-D60F-4E6D-B2E1-05B378E8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6FF4-3C75-4281-8D00-6DA0381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F33C0-25F0-4345-AF67-7FC13353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63 native artifacts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6B19D-61C8-4E0E-85C4-A282054B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33650"/>
            <a:ext cx="755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Manifest + 36 call files + 23 steps + 3 final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E1907-E85A-4A71-9B88-F8EDDDA5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Integrity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337E5-D39E-4C3B-ADCC-2A88C84A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76600"/>
            <a:ext cx="755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SHA-256 checks passed locally; not third-party attestation.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EFCEE-A104-4874-810C-DA72A88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Implementation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004C0-9132-4455-A4A7-55CAA71A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019550"/>
            <a:ext cx="755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Harness source, specs, review record and older fixtures.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2D5B7-756B-412A-93C3-39152E4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Publication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8306D-1F89-40E7-AAD0-297C36DA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62500"/>
            <a:ext cx="755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Public-corpus data; no live ledger DB or credentials.</a:t>
            </a:r>
          </a:p>
        </p:txBody>
      </p:sp>
    </p:spTree>
    <p:extLst>
      <p:ext uri="{BB962C8B-B14F-4D97-AF65-F5344CB8AC3E}">
        <p14:creationId xmlns:p14="http://schemas.microsoft.com/office/powerpoint/2010/main" val="11517288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3D90E-9597-4EE3-B02E-0B49A8E4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3AAFD-1FF7-4BD2-A0C2-A1F6C544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12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509B4-BBF1-426B-85C7-3AF094C9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CHECKS COMPLETED · LIMITS RETAINED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41EDE-8C47-4192-B721-834CA6D9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Validation is not a production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E57A3-669D-4E0B-9D7C-76A20F82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E431B-6D45-49F9-88EF-90A5DB38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9D019-1BEB-4CAE-84B3-EFA06351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40 pre-spend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E5143-EB11-419E-A08C-B7A23E2A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3365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Budget, transport, native rehearsal and retail parity.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966B0-CFE5-466E-B25B-07003CEE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Earlier regression gates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0B821-476B-43E5-9F7F-6CE2B5CA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7660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117 Python tests; AtFlows checks and server type-check.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29EC5-27ED-48DF-9BB2-BE54036A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Claude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5E95A-AC2F-4C6B-B24E-7F20E09C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1955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Read-only source/report review; not independent reproduction.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F68D8-3089-4B31-A227-BF0CC48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FD0D6"/>
                </a:solidFill>
              </a:defRPr>
            </a:pPr>
            <a:r>
              <a:rPr sz="2025" b="1">
                <a:solidFill>
                  <a:srgbClr val="5FD0D6"/>
                </a:solidFill>
              </a:rPr>
              <a:t>Not yet demonstrated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861C5-563A-4048-B09B-9757E3D1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750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4"/>
                </a:solidFill>
              </a:defRPr>
            </a:pPr>
            <a:r>
              <a:rPr sz="2025" b="0">
                <a:solidFill>
                  <a:srgbClr val="F0F5F4"/>
                </a:solidFill>
              </a:rPr>
              <a:t>Four-arm gains, restart-safe public workflows or held-out quality.</a:t>
            </a:r>
          </a:p>
        </p:txBody>
      </p:sp>
    </p:spTree>
    <p:extLst>
      <p:ext uri="{BB962C8B-B14F-4D97-AF65-F5344CB8AC3E}">
        <p14:creationId xmlns:p14="http://schemas.microsoft.com/office/powerpoint/2010/main" val="868874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E941D-992A-4ADD-B77C-B62A27B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D0D6"/>
                </a:solidFill>
              </a:defRPr>
            </a:pPr>
            <a:r>
              <a:rPr sz="1800" b="1">
                <a:solidFill>
                  <a:srgbClr val="5FD0D6"/>
                </a:solidFill>
              </a:rPr>
              <a:t>AtMem.ai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50223-3234-47DE-A8F0-BFAABFC3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13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0F266-C552-42BF-B8D4-8658AFB6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FD0D6"/>
                </a:solidFill>
              </a:defRPr>
            </a:pPr>
            <a:r>
              <a:rPr sz="1650" b="1">
                <a:solidFill>
                  <a:srgbClr val="5FD0D6"/>
                </a:solidFill>
              </a:rPr>
              <a:t>NEXT GATED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0BAF7-1DCB-4755-AAF7-7C845DF0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5F4"/>
                </a:solidFill>
              </a:defRPr>
            </a:pPr>
            <a:r>
              <a:rPr sz="3600" b="1">
                <a:solidFill>
                  <a:srgbClr val="F0F5F4"/>
                </a:solidFill>
              </a:rPr>
              <a:t>Evidence first. Product comparisons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D06A8-A960-4243-8C44-E2530D50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9B9"/>
                </a:solidFill>
              </a:defRPr>
            </a:pPr>
            <a:r>
              <a:rPr sz="1650" b="0">
                <a:solidFill>
                  <a:srgbClr val="A9B9B9"/>
                </a:solidFill>
              </a:rPr>
              <a:t>ENGINEERING EVIDENCE · 25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C3A9C-6AD3-4737-9495-3389CE4C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62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BD74"/>
                </a:solidFill>
              </a:defRPr>
            </a:pPr>
            <a:r>
              <a:rPr sz="1650" b="0">
                <a:solidFill>
                  <a:srgbClr val="EFBD74"/>
                </a:solidFill>
              </a:rPr>
              <a:t>NOT A PRODUCTION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60247-A19B-4D05-9054-94635780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FD0D6"/>
                </a:solidFill>
              </a:defRPr>
            </a:pPr>
            <a:r>
              <a:rPr sz="2625" b="1">
                <a:solidFill>
                  <a:srgbClr val="5FD0D6"/>
                </a:solidFill>
              </a:rPr>
              <a:t>Baseline   /   +AtMem   /   +AtFlows   /   Both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9741C-8C37-49FE-A3A6-19D31EC0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5F4"/>
                </a:solidFill>
              </a:defRPr>
            </a:pPr>
            <a:r>
              <a:rPr sz="2250" b="0">
                <a:solidFill>
                  <a:srgbClr val="F0F5F4"/>
                </a:solidFill>
              </a:rPr>
              <a:t>Same workloads, capabilities and fault schedule.</a:t>
            </a:r>
          </a:p>
          <a:p xmlns:a="http://schemas.openxmlformats.org/drawingml/2006/main">
            <a:pPr>
              <a:defRPr sz="2250" b="0">
                <a:solidFill>
                  <a:srgbClr val="F0F5F4"/>
                </a:solidFill>
              </a:defRPr>
            </a:pPr>
            <a:r>
              <a:rPr sz="2250" b="0">
                <a:solidFill>
                  <a:srgbClr val="F0F5F4"/>
                </a:solidFill>
              </a:rPr>
              <a:t>Retain every failure; annotate simulator adherence without dropping trials.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9C2ED-91EA-4C87-9A9F-CAEF4663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9B9B9"/>
                </a:solidFill>
              </a:defRPr>
            </a:pPr>
            <a:r>
              <a:rPr sz="2175" b="0">
                <a:solidFill>
                  <a:srgbClr val="A9B9B9"/>
                </a:solidFill>
              </a:rPr>
              <a:t>Then: repeated qualification → preregistration → held-out evaluation.</a:t>
            </a:r>
          </a:p>
        </p:txBody>
      </p:sp>
    </p:spTree>
    <p:extLst>
      <p:ext uri="{BB962C8B-B14F-4D97-AF65-F5344CB8AC3E}">
        <p14:creationId xmlns:p14="http://schemas.microsoft.com/office/powerpoint/2010/main" val="1091741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2026-09-24T22:34:38.4950000Z</dcterms:created>
  <dcterms:modified xsi:type="dcterms:W3CDTF">2026-09-24T22:34:38.4950000Z</dcterms:modified>
</coreProperties>
</file>